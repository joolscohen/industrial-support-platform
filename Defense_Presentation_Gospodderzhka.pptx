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0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096BE"/>
                </a:solidFill>
              </a:defRPr>
            </a:pPr>
            <a:r>
              <a:t>ГИС «ГОСПОДДЕРЖКА» — МОДУЛЬ 1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Автоматизация распределения</a:t>
            </a:r>
            <a:br/>
            <a:r>
              <a:t>государственной поддержки</a:t>
            </a:r>
          </a:p>
          <a:p>
            <a:pPr>
              <a:defRPr sz="1600">
                <a:solidFill>
                  <a:srgbClr val="B4C8DC"/>
                </a:solidFill>
              </a:defRPr>
            </a:pPr>
            <a:r>
              <a:t>Презентация и материалы к защите проекта системного анализа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CA0B9"/>
                </a:solidFill>
              </a:defRPr>
            </a:pPr>
            <a:r>
              <a:t>Заказчик: Минпромторг РФ  |  Целевой эффект: Сокращение срока обработки с 14 дней до 2 часов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BE"/>
                </a:solidFill>
              </a:defRPr>
            </a:pPr>
            <a:r>
              <a:t>ГИС «ГОСПОДДЕРЖКА» | ЗАЩИТА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Проблематика и ключевые цели проекта (As-Is / To-Be)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83232"/>
                </a:solidFill>
              </a:defRPr>
            </a:pPr>
            <a:r>
              <a:t>🔴 ТЕКУЩЕЕ СОСТОЯНИЕ (AS-IS)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14 рабочих дней: </a:t>
            </a:r>
            <a:r>
              <a:rPr b="0"/>
              <a:t>на ручную обработку одной заявки сотрудниками ведомства.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Человеческий фактор: </a:t>
            </a:r>
            <a:r>
              <a:rPr b="0"/>
              <a:t>риск пропуска налоговых долгов, просроченных справок и банкротств.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Ручной ввод данных: </a:t>
            </a:r>
            <a:r>
              <a:rPr b="0"/>
              <a:t>заявитель тратит до 45 минут на заполнение повторяющихся реквизитов.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Низкая прозрачность: </a:t>
            </a:r>
            <a:r>
              <a:rPr b="0"/>
              <a:t>заявитель не видит промежуточные статусы проверок.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8C50"/>
                </a:solidFill>
              </a:defRPr>
            </a:pPr>
            <a:r>
              <a:t>🟢 ЦЕЛЕВОЕ СОСТОЯНИЕ (TO-BE)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До 2 часов: </a:t>
            </a:r>
            <a:r>
              <a:rPr b="0"/>
              <a:t>полный цикл от подачи заявки до финального решения.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3 минуты: </a:t>
            </a:r>
            <a:r>
              <a:rPr b="0"/>
              <a:t>время работы оператора над заявкой благодаря готовому аналитическому резюме.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70% автозаполнения: </a:t>
            </a:r>
            <a:r>
              <a:rPr b="0"/>
              <a:t>данные компании моментально подтягиваются из ЕГРЮЛ по ИНН.</a:t>
            </a:r>
          </a:p>
          <a:p>
            <a:pPr>
              <a:spcAft>
                <a:spcPts val="1000"/>
              </a:spcAft>
              <a:defRPr b="1" sz="1300">
                <a:solidFill>
                  <a:srgbClr val="282828"/>
                </a:solidFill>
              </a:defRPr>
            </a:pPr>
            <a:r>
              <a:t>• 100% автопроверок: </a:t>
            </a:r>
            <a:r>
              <a:rPr b="0"/>
              <a:t>фоновые API-запросы к ФНС и модуль AI-скоринга рисков.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BE"/>
                </a:solidFill>
              </a:defRPr>
            </a:pPr>
            <a:r>
              <a:t>ГИС «ГОСПОДДЕРЖКА» | ЗАЩИТА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Место Модуля 1 в цифровой экосистеме господдержки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96BE"/>
                </a:solidFill>
              </a:defRPr>
            </a:pPr>
            <a:r>
              <a:t>МОДУЛЬ 1 (ТЕКУЩИЙ ПРОЕКТ)</a:t>
            </a:r>
          </a:p>
          <a:p>
            <a:pPr>
              <a:spcAft>
                <a:spcPts val="1600"/>
              </a:spcAft>
              <a:defRPr sz="1500" b="1">
                <a:solidFill>
                  <a:srgbClr val="FFFFFF"/>
                </a:solidFill>
              </a:defRPr>
            </a:pPr>
            <a:r>
              <a:t>Отбор и скоринг заявок</a:t>
            </a:r>
          </a:p>
          <a:p>
            <a:pPr>
              <a:spcAft>
                <a:spcPts val="800"/>
              </a:spcAft>
              <a:defRPr sz="1200">
                <a:solidFill>
                  <a:srgbClr val="D2E1F0"/>
                </a:solidFill>
              </a:defRPr>
            </a:pPr>
            <a:r>
              <a:t>• Автозаполнение по ИНН (API ФНС)</a:t>
            </a:r>
          </a:p>
          <a:p>
            <a:pPr>
              <a:spcAft>
                <a:spcPts val="800"/>
              </a:spcAft>
              <a:defRPr sz="1200">
                <a:solidFill>
                  <a:srgbClr val="D2E1F0"/>
                </a:solidFill>
              </a:defRPr>
            </a:pPr>
            <a:r>
              <a:t>• Автоматическая проверка стоп-факторов</a:t>
            </a:r>
          </a:p>
          <a:p>
            <a:pPr>
              <a:spcAft>
                <a:spcPts val="800"/>
              </a:spcAft>
              <a:defRPr sz="1200">
                <a:solidFill>
                  <a:srgbClr val="D2E1F0"/>
                </a:solidFill>
              </a:defRPr>
            </a:pPr>
            <a:r>
              <a:t>• Модуль AI-скоринга (0–100 баллов)</a:t>
            </a:r>
          </a:p>
          <a:p>
            <a:pPr>
              <a:spcAft>
                <a:spcPts val="800"/>
              </a:spcAft>
              <a:defRPr sz="1200">
                <a:solidFill>
                  <a:srgbClr val="D2E1F0"/>
                </a:solidFill>
              </a:defRPr>
            </a:pPr>
            <a:r>
              <a:t>• Дашборд оператора и утверждение</a:t>
            </a:r>
          </a:p>
          <a:p>
            <a:pPr>
              <a:spcAft>
                <a:spcPts val="800"/>
              </a:spcAft>
              <a:defRPr sz="1200">
                <a:solidFill>
                  <a:srgbClr val="D2E1F0"/>
                </a:solidFill>
              </a:defRPr>
            </a:pPr>
            <a:r>
              <a:t>• Присвоение финального статуса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233C"/>
                </a:solidFill>
              </a:defRPr>
            </a:pPr>
            <a:r>
              <a:t>МОДУЛЬ 2 (СМЕЖНАЯ СИСТЕМА)</a:t>
            </a:r>
          </a:p>
          <a:p>
            <a:pPr>
              <a:spcAft>
                <a:spcPts val="1600"/>
              </a:spcAft>
              <a:defRPr sz="1500" b="1">
                <a:solidFill>
                  <a:srgbClr val="282828"/>
                </a:solidFill>
              </a:defRPr>
            </a:pPr>
            <a:r>
              <a:t>Мониторинг реализации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Прием карточки одобренного проекта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Контроль календарного плана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Мониторинг этапов модернизации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Фиксация отклонений по срокам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Формирование уведомлений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233C"/>
                </a:solidFill>
              </a:defRPr>
            </a:pPr>
            <a:r>
              <a:t>МОДУЛЬ 3 (СМЕЖНАЯ СИСТЕМА)</a:t>
            </a:r>
          </a:p>
          <a:p>
            <a:pPr>
              <a:spcAft>
                <a:spcPts val="1600"/>
              </a:spcAft>
              <a:defRPr sz="1500" b="1">
                <a:solidFill>
                  <a:srgbClr val="282828"/>
                </a:solidFill>
              </a:defRPr>
            </a:pPr>
            <a:r>
              <a:t>Контроль и отчетность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Прием финансовых параметров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Сбор первичных документов и актов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Проверка целевого расходования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Анализ ключевых показателей (KPI)</a:t>
            </a:r>
          </a:p>
          <a:p>
            <a:pPr>
              <a:spcAft>
                <a:spcPts val="800"/>
              </a:spcAft>
              <a:defRPr sz="1200">
                <a:solidFill>
                  <a:srgbClr val="282828"/>
                </a:solidFill>
              </a:defRPr>
            </a:pPr>
            <a:r>
              <a:t>• Формирование итоговых отчетов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BE"/>
                </a:solidFill>
              </a:defRPr>
            </a:pPr>
            <a:r>
              <a:t>ГИС «ГОСПОДДЕРЖКА» | ЗАЩИТА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Сценарий работы и бизнес-процесс (TO-BE)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4233C"/>
                </a:solidFill>
              </a:defRPr>
            </a:pPr>
            <a:r>
              <a:t>1. Ввод ИНН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Заявитель вводит 10 цифр ИНН. Система делает запрос к ЕГРЮЛ и заполняет 70% полей формы.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5912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157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4233C"/>
                </a:solidFill>
              </a:defRPr>
            </a:pPr>
            <a:r>
              <a:t>2. Автопроверки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Фоновый запрос в ФНС на налоговые долги и банкротство. Расчет AI-скоринга (0–100).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5912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58767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4233C"/>
                </a:solidFill>
              </a:defRPr>
            </a:pPr>
            <a:r>
              <a:t>3. Маршрутизация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Стоп-факторы или Score &lt; 60 → Автоотказ. Score 60–79 → На разбор. Score 80+ → Рекомендация.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017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4233C"/>
                </a:solidFill>
              </a:defRPr>
            </a:pPr>
            <a:r>
              <a:t>4. Дашборд и Решение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Оператор видит сводное резюме и утверждает решение в 1 клик. Данные уходят в М2 и М3.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BE"/>
                </a:solidFill>
              </a:defRPr>
            </a:pPr>
            <a:r>
              <a:t>ГИС «ГОСПОДДЕРЖКА» | ЗАЩИТА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Пакет артефактов системного аналитика в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39512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73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233C"/>
                </a:solidFill>
              </a:defRPr>
            </a:pPr>
            <a:r>
              <a:t>1. ТРЕБОВАНИЯ И БИЗНЕС-ПРАВИЛА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business-requirements.md — Границы Scope / Out of Scope, KPI.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business-rules.md — Стоп-факторы (BR-STOP), правила валидации.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use-cases.md — Сценарии взаимодействия (UC-1 .. UC-3).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system-requirements.md — ФТ (FR-01..08) и НФТ (152-ФЗ, p95 &lt; 1.5s).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39512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3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233C"/>
                </a:solidFill>
              </a:defRPr>
            </a:pPr>
            <a:r>
              <a:t>2. МОДЕЛИРОВАНИЕ И ДИАГРАММЫ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bpmn-process.puml / process.bpmn — BPMN 2.0 (4 Swimlanes).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sequence-diagram.md — Межсистемная диаграмма Mermaid.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erd.md — Концептуальная ER-диаграмма сущностей БД.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39512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73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233C"/>
                </a:solidFill>
              </a:defRPr>
            </a:pPr>
            <a:r>
              <a:t>3. СХЕМА БАЗЫ ДАННЫХ (POSTGRESQL)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schema.sql — DDL-скрипт создания таблиц компаний, заявок, скоринга.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Внешние ключи, каскады, ограничения CHECK и индексы.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39512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73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4233C"/>
                </a:solidFill>
              </a:defRPr>
            </a:pPr>
            <a:r>
              <a:t>4. ИНТЕРФЕЙСЫ API И JSON-МОКИ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openapi.yaml — Спецификация REST API по стандарту OpenAPI 3.0.</a:t>
            </a:r>
          </a:p>
          <a:p>
            <a:pPr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t>• mock-data/ — Набор JSON-файлов ответов ФНС, скоринга и заявки.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BE"/>
                </a:solidFill>
              </a:defRPr>
            </a:pPr>
            <a:r>
              <a:t>ГИС «ГОСПОДДЕРЖКА» | ЗАЩИТА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План устной защиты и ответы на вопросы комиссии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4233C"/>
                </a:solidFill>
              </a:defRPr>
            </a:pPr>
            <a:r>
              <a:t>🗣 СТРУКТУРА ПИТЧА (2–3 МИНУТЫ)</a:t>
            </a:r>
          </a:p>
          <a:p>
            <a:pPr>
              <a:spcAft>
                <a:spcPts val="800"/>
              </a:spcAft>
              <a:defRPr sz="1100">
                <a:solidFill>
                  <a:srgbClr val="282828"/>
                </a:solidFill>
              </a:defRPr>
            </a:pPr>
            <a:r>
              <a:t>1. Вводная часть: Проблема As-Is (14 дней ручного разбора) и бизнес-цель.</a:t>
            </a:r>
          </a:p>
          <a:p>
            <a:pPr>
              <a:spcAft>
                <a:spcPts val="800"/>
              </a:spcAft>
              <a:defRPr sz="1100">
                <a:solidFill>
                  <a:srgbClr val="282828"/>
                </a:solidFill>
              </a:defRPr>
            </a:pPr>
            <a:r>
              <a:t>2. Архитектура: Роль Модуля 1 как входной точки перед М2 и М3.</a:t>
            </a:r>
          </a:p>
          <a:p>
            <a:pPr>
              <a:spcAft>
                <a:spcPts val="800"/>
              </a:spcAft>
              <a:defRPr sz="1100">
                <a:solidFill>
                  <a:srgbClr val="282828"/>
                </a:solidFill>
              </a:defRPr>
            </a:pPr>
            <a:r>
              <a:t>3. Логика работы: Автозаполнение по ИНН, фоновые проверки ФНС, AI-скоринг.</a:t>
            </a:r>
          </a:p>
          <a:p>
            <a:pPr>
              <a:spcAft>
                <a:spcPts val="800"/>
              </a:spcAft>
              <a:defRPr sz="1100">
                <a:solidFill>
                  <a:srgbClr val="282828"/>
                </a:solidFill>
              </a:defRPr>
            </a:pPr>
            <a:r>
              <a:t>4. Результаты: Готовый пакет артефактов Documentation-as-Code в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4233C"/>
                </a:solidFill>
              </a:defRPr>
            </a:pPr>
            <a:r>
              <a:t>❓ ГОТОВЫЕ ОТВЕТЫ НА ВОПРОСЫ</a:t>
            </a:r>
          </a:p>
          <a:p>
            <a:pPr>
              <a:defRPr b="1" sz="1100">
                <a:solidFill>
                  <a:srgbClr val="14233C"/>
                </a:solidFill>
              </a:defRPr>
            </a:pPr>
            <a:r>
              <a:t>• Q: Если API ФНС недоступно?</a:t>
            </a:r>
          </a:p>
          <a:p>
            <a:pPr>
              <a:spcAft>
                <a:spcPts val="600"/>
              </a:spcAft>
              <a:defRPr sz="1050">
                <a:solidFill>
                  <a:srgbClr val="282828"/>
                </a:solidFill>
              </a:defRPr>
            </a:pPr>
            <a:r>
              <a:t>  A: В UC-2 прописан таймаут 10с, 3 попытки, затем откладывание в ночную очередь RETRY_SCHEDULED.</a:t>
            </a:r>
          </a:p>
          <a:p>
            <a:pPr>
              <a:defRPr b="1" sz="1100">
                <a:solidFill>
                  <a:srgbClr val="14233C"/>
                </a:solidFill>
              </a:defRPr>
            </a:pPr>
            <a:r>
              <a:t>• Q: Почему PostgreSQL?</a:t>
            </a:r>
          </a:p>
          <a:p>
            <a:pPr>
              <a:spcAft>
                <a:spcPts val="600"/>
              </a:spcAft>
              <a:defRPr sz="1050">
                <a:solidFill>
                  <a:srgbClr val="282828"/>
                </a:solidFill>
              </a:defRPr>
            </a:pPr>
            <a:r>
              <a:t>  A: Необходима ACID-транзакционность для заявок и FK, а гибкие финансовые метрики хранятся в JSONB.</a:t>
            </a:r>
          </a:p>
          <a:p>
            <a:pPr>
              <a:defRPr b="1" sz="1100">
                <a:solidFill>
                  <a:srgbClr val="14233C"/>
                </a:solidFill>
              </a:defRPr>
            </a:pPr>
            <a:r>
              <a:t>• Q: Как соблюдается 152-ФЗ?</a:t>
            </a:r>
          </a:p>
          <a:p>
            <a:pPr>
              <a:spcAft>
                <a:spcPts val="600"/>
              </a:spcAft>
              <a:defRPr sz="1050">
                <a:solidFill>
                  <a:srgbClr val="282828"/>
                </a:solidFill>
              </a:defRPr>
            </a:pPr>
            <a:r>
              <a:t>  A: HTTPS (TLS 1.3), разграничение ролей (RBAC) и изоляция персональных данных.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