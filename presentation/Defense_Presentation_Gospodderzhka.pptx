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AB1B9F5-E993-4C34-8391-5A325282BC6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Открытие, 20–30 секунд. «Я представляю учебный проект системного анализа модуля ГИС “Господдержка”. Он описывает автоматизацию приёма и первичной проверки заявок промышленных предприятий. Основная цель бизнес-сценария — сократить путь заявки с 14 рабочих дней до двух часов. Это целевой показатель проекта, а не измеренный эффект действующей системы. Дальше покажу процесс, правила, интеграции и комплект аналитических артефактов».</a:t>
            </a:r>
          </a:p>
        </p:txBody>
      </p:sp>
      <p:sp>
        <p:nvSpPr>
          <p:cNvPr id="3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A21B0E-7C46-4F2B-97EE-C58F4B01B8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Примерно 35–40 секунд. «В BRD выделены четыре целевых изменения: обработка до двух часов вместо 14 рабочих дней, заполнение формы до пяти минут вместо примерно 45, работа оператора до трёх минут вместо 120 и автоматизация формальных проверок. Цифры относятся к целевой модели. В защите важно не называть их результатами внедрения: для этого нужны пилотные данные, согласованная нагрузка и измерения».</a:t>
            </a:r>
          </a:p>
        </p:txBody>
      </p:sp>
      <p:sp>
        <p:nvSpPr>
          <p:cNvPr id="3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827D99-8383-4FA4-BCA6-BC28C772FE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Примерно 35 секунд. «Граница модуля явно отделена. Заявитель подаёт заявку, модуль получает внешние сведения, выполняет проверки и организует рассмотрение. Модуль 2 отслеживает исполнение уже одобренного проекта, модуль 3 работает с финансовой отчётностью. Обработка денег или фактическое перечисление средств не входит в рамки Модуля 1. Для внешних сервисов в учебном проекте используются mock-интеграции, а реальные контракты необходимо отдельно согласовать».</a:t>
            </a:r>
          </a:p>
        </p:txBody>
      </p:sp>
      <p:sp>
        <p:nvSpPr>
          <p:cNvPr id="3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094090-68F2-4480-ADC6-D7EBC140C6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Примерно 40 секунд. «На схеме базовый путь: черновик, отправка, проверка, рассмотрение и финальное решение. Возврат на доработку предусмотрен отдельным статусом NEEDS_REVISION. Критически важно не путать ошибку внешнего сервиса с отрицательным бизнес-результатом. Если ФНС или другой источник недоступен, заявка не отклоняется только из-за технической ошибки: фиксируется состояние, далее применяется политика повторных попыток или дополнительной обработки. История статусов и решений нужна для аудита».</a:t>
            </a:r>
          </a:p>
        </p:txBody>
      </p:sp>
      <p:sp>
        <p:nvSpPr>
          <p:cNvPr id="3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2CF923-15DC-4620-8DFA-85685CC68A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Примерно 45 секунд. «Логику маршрутизации я вынесла в отдельный документ business-rules.md, чтобы критерии не были зашиты только в описание процесса. В учебном сценарии предусмотрены пять стоп-факторов и три диапазона скоринга. Стоп-факторы имеют приоритет. Диапазон 80–100 даёт рекомендацию к одобрению, но не автоматическое одобрение. Правила о задолженности 50 тысяч рублей, возрасте компании 12 месяцев, РНП, банкротстве и скоринговых порогах — именно учебные допущения, не универсальные требования господдержки».</a:t>
            </a:r>
          </a:p>
        </p:txBody>
      </p:sp>
      <p:sp>
        <p:nvSpPr>
          <p:cNvPr id="3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D1729C-BE49-4948-A593-A2FB19953A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Примерно 40 секунд. «Контракт API оформлен в OpenAPI 3.0. Он описывает создание и редактирование черновиков, отправку и повторную отправку, документы, результаты проверок и скоринга, принятие решения и историю статусов. Бизнес-правила исполняются на серверной стороне. Внешние реестры и сервис скоринга представлены mock-интеграциями, поэтому наличие YAML не означает, что система уже подключена к реальным сервисам. После одобрения данные доставляются в модули 2 и 3; сбой доставки обрабатывается отдельно от решения».</a:t>
            </a:r>
          </a:p>
        </p:txBody>
      </p:sp>
      <p:sp>
        <p:nvSpPr>
          <p:cNvPr id="3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7A4777-AE0B-49D3-8D50-C6CBD0E228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Примерно 35–40 секунд. «Модель данных включает 13 таблиц. Компании и заявки — ядро. Проверки, скоринг, решения и история статусов хранятся отдельно, чтобы не затирать основания принятого решения. Для интеграционной доставки есть отдельные записи с попытками и ошибками, для идемпотентности — ключи повторных запросов, отдельно аудит и outbox уведомлений. Схема оформлена в erd.md и schema.sql. Это проектируемая модель, её надо подтвердить исполнением DDL и тестированием в целевой среде».</a:t>
            </a:r>
          </a:p>
        </p:txBody>
      </p:sp>
      <p:sp>
        <p:nvSpPr>
          <p:cNvPr id="3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3C1648-A8CF-4F6B-8B5F-0B3C1A3489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Примерно 35 секунд. «Нефункциональные требования имеют измеримые критерии: p95 синхронных API менее полутора секунд, целевая доступность 99,9 процента, обработка заявки до двух часов. Для безопасности описаны ролевой доступ, защищённые каналы, защита применимых персональных данных и запрет логирования секретов. Надёжность обеспечивается тем, что технические ошибки хранятся отдельно, а повторная обработка не создаёт дублирующих операций. Показатели требуют испытаний, здесь они не представлены как достигнутые».</a:t>
            </a:r>
          </a:p>
        </p:txBody>
      </p:sp>
      <p:sp>
        <p:nvSpPr>
          <p:cNvPr id="34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90F29-E839-4707-A396-DC01F56B47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Финал, около 30 секунд. «В результате подготовлен комплект документации как код: BRD, бизнес-правила, системные требования, use cases, диаграммы, OpenAPI, ERD, SQL и примеры JSON. Смысл не только в наличии файлов: требования и правила должны прослеживаться до API, данных и тестов. Граница учебного решения тоже зафиксирована: реальные интеграции, согласование критериев господдержки, развёртывание и испытания ещё требуют выполнения. Таким образом, результат — проработанный аналитический проект, а не заявление о готовой промышленной системе».</a:t>
            </a:r>
          </a:p>
        </p:txBody>
      </p:sp>
      <p:sp>
        <p:nvSpPr>
          <p:cNvPr id="34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5CCFC8-0AEF-44D2-B082-BF69FF2A03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502920" y="6519600"/>
            <a:ext cx="11182680" cy="10440"/>
          </a:xfrm>
          <a:prstGeom prst="rect">
            <a:avLst/>
          </a:prstGeom>
          <a:solidFill>
            <a:srgbClr val="26364C"/>
          </a:solidFill>
          <a:ln w="12700">
            <a:solidFill>
              <a:srgbClr val="26364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530280" y="6574680"/>
            <a:ext cx="5303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 spc="139">
                <a:solidFill>
                  <a:srgbClr val="7889A2"/>
                </a:solidFill>
                <a:effectLst/>
                <a:uFillTx/>
                <a:latin typeface="Aptos"/>
                <a:ea typeface="Aptos"/>
              </a:rPr>
              <a:t>ГИС «ГОСПОДДЕРЖКА»  /  МОДУЛЬ 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9601200" y="6574680"/>
            <a:ext cx="1599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 spc="139">
                <a:solidFill>
                  <a:srgbClr val="7889A2"/>
                </a:solidFill>
                <a:effectLst/>
                <a:uFillTx/>
                <a:latin typeface="Aptos"/>
                <a:ea typeface="Aptos"/>
              </a:rPr>
              <a:t>ЗАЩИТА ПРОЕКТА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D3F4EF-F92D-4263-A513-EC6C8112C85E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8641080" y="749880"/>
            <a:ext cx="2468520" cy="2468520"/>
          </a:xfrm>
          <a:prstGeom prst="ellipse">
            <a:avLst/>
          </a:prstGeom>
          <a:solidFill>
            <a:srgbClr val="10273A"/>
          </a:solidFill>
          <a:ln w="12700">
            <a:solidFill>
              <a:srgbClr val="1D44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9646920" y="1783080"/>
            <a:ext cx="1691280" cy="1691280"/>
          </a:xfrm>
          <a:prstGeom prst="ellipse">
            <a:avLst/>
          </a:prstGeom>
          <a:solidFill>
            <a:srgbClr val="123A46"/>
          </a:solidFill>
          <a:ln w="12700">
            <a:solidFill>
              <a:srgbClr val="2C6B7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10104120" y="2240280"/>
            <a:ext cx="840960" cy="84096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8101800" y="2925900"/>
            <a:ext cx="310680" cy="31068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10789920" y="992700"/>
            <a:ext cx="182520" cy="1825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8732520" y="3886200"/>
            <a:ext cx="164160" cy="16416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 flipV="1">
            <a:off x="8412480" y="2651760"/>
            <a:ext cx="1783080" cy="393120"/>
          </a:xfrm>
          <a:prstGeom prst="line">
            <a:avLst/>
          </a:prstGeom>
          <a:ln w="15240">
            <a:solidFill>
              <a:srgbClr val="2D75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 flipV="1">
            <a:off x="9784080" y="1188720"/>
            <a:ext cx="1005840" cy="777240"/>
          </a:xfrm>
          <a:prstGeom prst="line">
            <a:avLst/>
          </a:prstGeom>
          <a:ln w="15240">
            <a:solidFill>
              <a:srgbClr val="2D75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8778240" y="1783080"/>
            <a:ext cx="1691640" cy="594360"/>
          </a:xfrm>
          <a:prstGeom prst="line">
            <a:avLst/>
          </a:prstGeom>
          <a:ln w="15240">
            <a:solidFill>
              <a:srgbClr val="2D75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685800" y="777240"/>
            <a:ext cx="2486880" cy="273960"/>
          </a:xfrm>
          <a:prstGeom prst="roundRect">
            <a:avLst>
              <a:gd name="adj" fmla="val 26667"/>
            </a:avLst>
          </a:prstGeom>
          <a:solidFill>
            <a:srgbClr val="43D6C2"/>
          </a:solidFill>
          <a:ln w="10160">
            <a:solidFill>
              <a:srgbClr val="43D6C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758880" y="786240"/>
            <a:ext cx="2340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60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ПРОЕКТ СИСТЕМНОГО АНАЛИЗА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658440" y="1353240"/>
            <a:ext cx="694908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ГИС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«ГОСПОДДЕРЖКА»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713160" y="306324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Модуль 1. Автоматизация приёма, проверки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и рассмотрения заявок промышленных предприятий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713160" y="4297680"/>
            <a:ext cx="4407480" cy="360"/>
          </a:xfrm>
          <a:prstGeom prst="line">
            <a:avLst/>
          </a:prstGeom>
          <a:ln w="1524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731520" y="45720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39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КЛЮЧЕВАЯ ЦЕЛЬ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731520" y="488304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14 рабочих дней → до 2 часов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749880" y="5504760"/>
            <a:ext cx="5851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Целевой показатель учебного проекта, не измеренный результат внедрения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731520" y="5989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295AD"/>
                </a:solidFill>
                <a:effectLst/>
                <a:uFillTx/>
                <a:latin typeface="Aptos"/>
                <a:ea typeface="Aptos"/>
              </a:rPr>
              <a:t>Портфолио документации • Docs-as-Code • OpenAPI • PostgreSQL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CA87A-E2F4-4CBA-9762-FD1DAA26D19A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01 / БИЗНЕС-КОНТЕКСТ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Проблема — не только в скорости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Ручная сверка документов увеличивает срок обработки и затрудняет контроль оснований решения.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658440" y="1828800"/>
            <a:ext cx="3492720" cy="1901520"/>
          </a:xfrm>
          <a:prstGeom prst="roundRect">
            <a:avLst>
              <a:gd name="adj" fmla="val 7692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859680" y="2030040"/>
            <a:ext cx="3062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1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ТЕКУЩИЙ ЦИКЛ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859680" y="2441520"/>
            <a:ext cx="1325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14 дней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2167200" y="2441520"/>
            <a:ext cx="411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2578680" y="244152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до 2 часов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859320" y="3063240"/>
            <a:ext cx="3044880" cy="360"/>
          </a:xfrm>
          <a:prstGeom prst="line">
            <a:avLst/>
          </a:prstGeom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859680" y="3246120"/>
            <a:ext cx="3071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Цель обработки заявки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4425840" y="1828800"/>
            <a:ext cx="3492720" cy="1901520"/>
          </a:xfrm>
          <a:prstGeom prst="roundRect">
            <a:avLst>
              <a:gd name="adj" fmla="val 7692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4626720" y="2030040"/>
            <a:ext cx="3062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1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ЗАПОЛНЕНИЕ ФОРМЫ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4626720" y="2441520"/>
            <a:ext cx="1325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~45 мин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5934600" y="2441520"/>
            <a:ext cx="411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CA8FF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6346080" y="244152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CA8FF"/>
                </a:solidFill>
                <a:effectLst/>
                <a:uFillTx/>
                <a:latin typeface="Aptos"/>
                <a:ea typeface="Aptos"/>
              </a:rPr>
              <a:t>до 5 минут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5"/>
          <p:cNvSpPr/>
          <p:nvPr/>
        </p:nvSpPr>
        <p:spPr>
          <a:xfrm>
            <a:off x="4626720" y="3063240"/>
            <a:ext cx="3044880" cy="360"/>
          </a:xfrm>
          <a:prstGeom prst="line">
            <a:avLst/>
          </a:prstGeom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4626720" y="3246120"/>
            <a:ext cx="3071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За счёт автозаполнения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7"/>
          <p:cNvSpPr/>
          <p:nvPr/>
        </p:nvSpPr>
        <p:spPr>
          <a:xfrm>
            <a:off x="8192880" y="1828800"/>
            <a:ext cx="3492720" cy="1901520"/>
          </a:xfrm>
          <a:prstGeom prst="roundRect">
            <a:avLst>
              <a:gd name="adj" fmla="val 7692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8394120" y="2030040"/>
            <a:ext cx="3062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1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РАБОТА ОПЕРАТОРА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8394120" y="2441520"/>
            <a:ext cx="1325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120 мин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9701640" y="2441520"/>
            <a:ext cx="411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10113120" y="2441520"/>
            <a:ext cx="135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до 3 минут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2"/>
          <p:cNvSpPr/>
          <p:nvPr/>
        </p:nvSpPr>
        <p:spPr>
          <a:xfrm>
            <a:off x="8394120" y="3063240"/>
            <a:ext cx="3044880" cy="360"/>
          </a:xfrm>
          <a:prstGeom prst="line">
            <a:avLst/>
          </a:prstGeom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8394120" y="3246120"/>
            <a:ext cx="3071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При готовом резюме проверок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4"/>
          <p:cNvSpPr/>
          <p:nvPr/>
        </p:nvSpPr>
        <p:spPr>
          <a:xfrm>
            <a:off x="658440" y="4041720"/>
            <a:ext cx="10926720" cy="1416960"/>
          </a:xfrm>
          <a:prstGeom prst="roundRect">
            <a:avLst>
              <a:gd name="adj" fmla="val 10323"/>
            </a:avLst>
          </a:prstGeom>
          <a:solidFill>
            <a:srgbClr val="102638"/>
          </a:solidFill>
          <a:ln w="10160">
            <a:solidFill>
              <a:srgbClr val="2451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5"/>
          <p:cNvSpPr/>
          <p:nvPr/>
        </p:nvSpPr>
        <p:spPr>
          <a:xfrm>
            <a:off x="914400" y="4361760"/>
            <a:ext cx="319680" cy="31968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6"/>
          <p:cNvSpPr/>
          <p:nvPr/>
        </p:nvSpPr>
        <p:spPr>
          <a:xfrm>
            <a:off x="914400" y="43524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!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7"/>
          <p:cNvSpPr/>
          <p:nvPr/>
        </p:nvSpPr>
        <p:spPr>
          <a:xfrm>
            <a:off x="1371600" y="4288680"/>
            <a:ext cx="21027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Важно для защиты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8"/>
          <p:cNvSpPr/>
          <p:nvPr/>
        </p:nvSpPr>
        <p:spPr>
          <a:xfrm>
            <a:off x="1371600" y="4645080"/>
            <a:ext cx="9509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Это целевые KPI из BRD. В проекте определены способы достижения и критерии проверки, но фактическое сокращение сроков ещё не подтверждено пилотом или нагрузочным тестированием.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9"/>
          <p:cNvSpPr/>
          <p:nvPr/>
        </p:nvSpPr>
        <p:spPr>
          <a:xfrm>
            <a:off x="713160" y="5779080"/>
            <a:ext cx="10606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Дополнительная проблема: непрозрачные промежуточные статусы и риск пропуска стоп-факторов при ручной сверке.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6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3DB458-91BB-4DEF-9679-79C6390BAFDC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02 / ГРАНИЦЫ И УЧАСТНИКИ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Модуль 1 — точка входа в экосистему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Модуль собирает данные и формирует маршрут; исполнение проекта и контроль отчётности остаются за соседними модулями.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658440" y="2121480"/>
            <a:ext cx="2148480" cy="1325520"/>
          </a:xfrm>
          <a:prstGeom prst="roundRect">
            <a:avLst>
              <a:gd name="adj" fmla="val 11034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914400" y="2395800"/>
            <a:ext cx="402120" cy="4021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914400" y="23958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1444680" y="23407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Заявитель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1444680" y="266076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Подаёт заявку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и документы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3364920" y="1774080"/>
            <a:ext cx="4525920" cy="2084400"/>
          </a:xfrm>
          <a:prstGeom prst="roundRect">
            <a:avLst>
              <a:gd name="adj" fmla="val 7018"/>
            </a:avLst>
          </a:prstGeom>
          <a:solidFill>
            <a:srgbClr val="122B3C"/>
          </a:solidFill>
          <a:ln w="10160">
            <a:solidFill>
              <a:srgbClr val="2A7A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3639240" y="1993320"/>
            <a:ext cx="1508400" cy="273960"/>
          </a:xfrm>
          <a:prstGeom prst="roundRect">
            <a:avLst>
              <a:gd name="adj" fmla="val 26667"/>
            </a:avLst>
          </a:prstGeom>
          <a:solidFill>
            <a:srgbClr val="43D6C2"/>
          </a:solidFill>
          <a:ln w="10160">
            <a:solidFill>
              <a:srgbClr val="43D6C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3712320" y="2002680"/>
            <a:ext cx="1362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60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ТЕКУЩИЙ ПРОЕКТ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3639240" y="23958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59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МОДУЛЬ 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3639240" y="2743200"/>
            <a:ext cx="37944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Приём • проверки • скоринг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• рассмотрение оператором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2806920" y="2788920"/>
            <a:ext cx="558000" cy="360"/>
          </a:xfrm>
          <a:prstGeom prst="line">
            <a:avLst/>
          </a:prstGeom>
          <a:ln w="25400">
            <a:solidFill>
              <a:srgbClr val="6CA8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3364920" y="4206240"/>
            <a:ext cx="4525920" cy="932400"/>
          </a:xfrm>
          <a:prstGeom prst="roundRect">
            <a:avLst>
              <a:gd name="adj" fmla="val 15686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3611880" y="436176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ВНЕШНИЕ ИСТОЧНИКИ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3611880" y="468180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ЕГРЮЛ / ФНС  •  Федресурс  •  РНП  •  сервис скоринга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7"/>
          <p:cNvSpPr/>
          <p:nvPr/>
        </p:nvSpPr>
        <p:spPr>
          <a:xfrm>
            <a:off x="5623560" y="3858480"/>
            <a:ext cx="360" cy="347760"/>
          </a:xfrm>
          <a:prstGeom prst="line">
            <a:avLst/>
          </a:prstGeom>
          <a:ln w="21590">
            <a:solidFill>
              <a:srgbClr val="43D6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8430840" y="1892880"/>
            <a:ext cx="3062880" cy="1115280"/>
          </a:xfrm>
          <a:prstGeom prst="roundRect">
            <a:avLst>
              <a:gd name="adj" fmla="val 13115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8668440" y="2084760"/>
            <a:ext cx="959760" cy="273960"/>
          </a:xfrm>
          <a:prstGeom prst="roundRect">
            <a:avLst>
              <a:gd name="adj" fmla="val 26667"/>
            </a:avLst>
          </a:prstGeom>
          <a:solidFill>
            <a:srgbClr val="6CA8FF"/>
          </a:solidFill>
          <a:ln w="10160">
            <a:solidFill>
              <a:srgbClr val="6CA8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8741520" y="2094120"/>
            <a:ext cx="813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60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МОДУЛЬ 2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8668440" y="2441520"/>
            <a:ext cx="24868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Мониторинг исполнения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одобренного проекта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8430840" y="3383280"/>
            <a:ext cx="3062880" cy="1115280"/>
          </a:xfrm>
          <a:prstGeom prst="roundRect">
            <a:avLst>
              <a:gd name="adj" fmla="val 13115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8668440" y="3575160"/>
            <a:ext cx="959760" cy="273960"/>
          </a:xfrm>
          <a:prstGeom prst="roundRect">
            <a:avLst>
              <a:gd name="adj" fmla="val 26667"/>
            </a:avLst>
          </a:prstGeom>
          <a:solidFill>
            <a:srgbClr val="FFC56A"/>
          </a:solidFill>
          <a:ln w="10160">
            <a:solidFill>
              <a:srgbClr val="FFC56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8741520" y="3584520"/>
            <a:ext cx="813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60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МОДУЛЬ 3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5"/>
          <p:cNvSpPr/>
          <p:nvPr/>
        </p:nvSpPr>
        <p:spPr>
          <a:xfrm>
            <a:off x="8668440" y="3931920"/>
            <a:ext cx="24868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Финансовая отчётность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и целевое использование средств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6"/>
          <p:cNvSpPr/>
          <p:nvPr/>
        </p:nvSpPr>
        <p:spPr>
          <a:xfrm flipV="1">
            <a:off x="7891200" y="2450520"/>
            <a:ext cx="539280" cy="201240"/>
          </a:xfrm>
          <a:prstGeom prst="line">
            <a:avLst/>
          </a:prstGeom>
          <a:ln w="22860">
            <a:solidFill>
              <a:srgbClr val="6CA8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7"/>
          <p:cNvSpPr/>
          <p:nvPr/>
        </p:nvSpPr>
        <p:spPr>
          <a:xfrm>
            <a:off x="7891200" y="2953440"/>
            <a:ext cx="539280" cy="868680"/>
          </a:xfrm>
          <a:prstGeom prst="line">
            <a:avLst/>
          </a:prstGeom>
          <a:ln w="22860">
            <a:solidFill>
              <a:srgbClr val="FFC56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8"/>
          <p:cNvSpPr/>
          <p:nvPr/>
        </p:nvSpPr>
        <p:spPr>
          <a:xfrm>
            <a:off x="749880" y="56509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Передача в Модули 2 и 3 выполняется после одобрения; ошибка доставки не должна отменять уже сохранённое решение.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sldNum" idx="7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AF5BD0-6B6E-4BD1-8495-B47A33550DFD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03 / СКВОЗНОЙ СЦЕНАРИЙ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От черновика к решению с историей изменений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Статусы заявки отделены от результата скоринга и технических ошибок интеграций.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658440" y="2030040"/>
            <a:ext cx="2148480" cy="1846800"/>
          </a:xfrm>
          <a:prstGeom prst="roundRect">
            <a:avLst>
              <a:gd name="adj" fmla="val 7921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841320" y="2231280"/>
            <a:ext cx="347040" cy="34704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841320" y="2240280"/>
            <a:ext cx="34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841320" y="27342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Черновик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841320" y="31273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6CA8FF"/>
                </a:solidFill>
                <a:effectLst/>
                <a:uFillTx/>
                <a:latin typeface="Aptos"/>
                <a:ea typeface="Aptos"/>
              </a:rPr>
              <a:t>DRAFT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841320" y="34563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ИНН, поля формы, документы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2806920" y="2935080"/>
            <a:ext cx="164880" cy="360"/>
          </a:xfrm>
          <a:prstGeom prst="line">
            <a:avLst/>
          </a:prstGeom>
          <a:ln w="22860">
            <a:solidFill>
              <a:srgbClr val="2C40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2971800" y="2030040"/>
            <a:ext cx="2148480" cy="1846800"/>
          </a:xfrm>
          <a:prstGeom prst="roundRect">
            <a:avLst>
              <a:gd name="adj" fmla="val 7921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3154680" y="2231280"/>
            <a:ext cx="347040" cy="34704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3154680" y="2240280"/>
            <a:ext cx="34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3154680" y="27342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Отправка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3154680" y="31273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SUBMITTED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3154680" y="34563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Валидация и ID заявки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6"/>
          <p:cNvSpPr/>
          <p:nvPr/>
        </p:nvSpPr>
        <p:spPr>
          <a:xfrm>
            <a:off x="5120640" y="2935080"/>
            <a:ext cx="164520" cy="360"/>
          </a:xfrm>
          <a:prstGeom prst="line">
            <a:avLst/>
          </a:prstGeom>
          <a:ln w="22860">
            <a:solidFill>
              <a:srgbClr val="2C40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7"/>
          <p:cNvSpPr/>
          <p:nvPr/>
        </p:nvSpPr>
        <p:spPr>
          <a:xfrm>
            <a:off x="5285160" y="2030040"/>
            <a:ext cx="2148480" cy="1846800"/>
          </a:xfrm>
          <a:prstGeom prst="roundRect">
            <a:avLst>
              <a:gd name="adj" fmla="val 7921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5468040" y="2231280"/>
            <a:ext cx="347040" cy="34704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5468040" y="2240280"/>
            <a:ext cx="34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0"/>
          <p:cNvSpPr/>
          <p:nvPr/>
        </p:nvSpPr>
        <p:spPr>
          <a:xfrm>
            <a:off x="5468040" y="27342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Автопроверки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1"/>
          <p:cNvSpPr/>
          <p:nvPr/>
        </p:nvSpPr>
        <p:spPr>
          <a:xfrm>
            <a:off x="5468040" y="31273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DATA_CHECK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2"/>
          <p:cNvSpPr/>
          <p:nvPr/>
        </p:nvSpPr>
        <p:spPr>
          <a:xfrm>
            <a:off x="5468040" y="34563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Реестры, стоп-факторы, скоринг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3"/>
          <p:cNvSpPr/>
          <p:nvPr/>
        </p:nvSpPr>
        <p:spPr>
          <a:xfrm>
            <a:off x="7434000" y="2935080"/>
            <a:ext cx="164520" cy="360"/>
          </a:xfrm>
          <a:prstGeom prst="line">
            <a:avLst/>
          </a:prstGeom>
          <a:ln w="22860">
            <a:solidFill>
              <a:srgbClr val="2C40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4"/>
          <p:cNvSpPr/>
          <p:nvPr/>
        </p:nvSpPr>
        <p:spPr>
          <a:xfrm>
            <a:off x="7598520" y="2030040"/>
            <a:ext cx="2148480" cy="1846800"/>
          </a:xfrm>
          <a:prstGeom prst="roundRect">
            <a:avLst>
              <a:gd name="adj" fmla="val 7921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5"/>
          <p:cNvSpPr/>
          <p:nvPr/>
        </p:nvSpPr>
        <p:spPr>
          <a:xfrm>
            <a:off x="7781400" y="2231280"/>
            <a:ext cx="347040" cy="34704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6"/>
          <p:cNvSpPr/>
          <p:nvPr/>
        </p:nvSpPr>
        <p:spPr>
          <a:xfrm>
            <a:off x="7781400" y="2240280"/>
            <a:ext cx="34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7"/>
          <p:cNvSpPr/>
          <p:nvPr/>
        </p:nvSpPr>
        <p:spPr>
          <a:xfrm>
            <a:off x="7781400" y="27342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Рассмотрение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8"/>
          <p:cNvSpPr/>
          <p:nvPr/>
        </p:nvSpPr>
        <p:spPr>
          <a:xfrm>
            <a:off x="7781400" y="31273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6CA8FF"/>
                </a:solidFill>
                <a:effectLst/>
                <a:uFillTx/>
                <a:latin typeface="Aptos"/>
                <a:ea typeface="Aptos"/>
              </a:rPr>
              <a:t>UNDER_REVIEW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9"/>
          <p:cNvSpPr/>
          <p:nvPr/>
        </p:nvSpPr>
        <p:spPr>
          <a:xfrm>
            <a:off x="7781400" y="34563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Материалы и рекомендации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0"/>
          <p:cNvSpPr/>
          <p:nvPr/>
        </p:nvSpPr>
        <p:spPr>
          <a:xfrm>
            <a:off x="9747360" y="2935080"/>
            <a:ext cx="164520" cy="360"/>
          </a:xfrm>
          <a:prstGeom prst="line">
            <a:avLst/>
          </a:prstGeom>
          <a:ln w="22860">
            <a:solidFill>
              <a:srgbClr val="2C40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1"/>
          <p:cNvSpPr/>
          <p:nvPr/>
        </p:nvSpPr>
        <p:spPr>
          <a:xfrm>
            <a:off x="9912240" y="2030040"/>
            <a:ext cx="2148480" cy="1846800"/>
          </a:xfrm>
          <a:prstGeom prst="roundRect">
            <a:avLst>
              <a:gd name="adj" fmla="val 7921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2"/>
          <p:cNvSpPr/>
          <p:nvPr/>
        </p:nvSpPr>
        <p:spPr>
          <a:xfrm>
            <a:off x="10095120" y="2231280"/>
            <a:ext cx="347040" cy="347040"/>
          </a:xfrm>
          <a:prstGeom prst="ellipse">
            <a:avLst/>
          </a:prstGeom>
          <a:solidFill>
            <a:srgbClr val="78D7A4"/>
          </a:solidFill>
          <a:ln w="12700">
            <a:solidFill>
              <a:srgbClr val="78D7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3"/>
          <p:cNvSpPr/>
          <p:nvPr/>
        </p:nvSpPr>
        <p:spPr>
          <a:xfrm>
            <a:off x="10095120" y="2240280"/>
            <a:ext cx="34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4"/>
          <p:cNvSpPr/>
          <p:nvPr/>
        </p:nvSpPr>
        <p:spPr>
          <a:xfrm>
            <a:off x="10095120" y="27342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Решение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5"/>
          <p:cNvSpPr/>
          <p:nvPr/>
        </p:nvSpPr>
        <p:spPr>
          <a:xfrm>
            <a:off x="10095120" y="31273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78D7A4"/>
                </a:solidFill>
                <a:effectLst/>
                <a:uFillTx/>
                <a:latin typeface="Aptos"/>
                <a:ea typeface="Aptos"/>
              </a:rPr>
              <a:t>APPROVED / REJECTED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6"/>
          <p:cNvSpPr/>
          <p:nvPr/>
        </p:nvSpPr>
        <p:spPr>
          <a:xfrm>
            <a:off x="10095120" y="34563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Основание и автор фиксируются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7"/>
          <p:cNvSpPr/>
          <p:nvPr/>
        </p:nvSpPr>
        <p:spPr>
          <a:xfrm>
            <a:off x="658440" y="4370760"/>
            <a:ext cx="5266440" cy="1115280"/>
          </a:xfrm>
          <a:prstGeom prst="roundRect">
            <a:avLst>
              <a:gd name="adj" fmla="val 13115"/>
            </a:avLst>
          </a:prstGeom>
          <a:solidFill>
            <a:srgbClr val="2A1F2B"/>
          </a:solidFill>
          <a:ln w="10160">
            <a:solidFill>
              <a:srgbClr val="6640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8"/>
          <p:cNvSpPr/>
          <p:nvPr/>
        </p:nvSpPr>
        <p:spPr>
          <a:xfrm>
            <a:off x="887040" y="4553640"/>
            <a:ext cx="1992960" cy="273960"/>
          </a:xfrm>
          <a:prstGeom prst="roundRect">
            <a:avLst>
              <a:gd name="adj" fmla="val 26667"/>
            </a:avLst>
          </a:prstGeom>
          <a:solidFill>
            <a:srgbClr val="FF7B86"/>
          </a:solidFill>
          <a:ln w="10160">
            <a:solidFill>
              <a:srgbClr val="FF7B8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9"/>
          <p:cNvSpPr/>
          <p:nvPr/>
        </p:nvSpPr>
        <p:spPr>
          <a:xfrm>
            <a:off x="960120" y="4563000"/>
            <a:ext cx="1846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60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АЛЬТЕРНАТИВНАЯ ВЕТКА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0"/>
          <p:cNvSpPr/>
          <p:nvPr/>
        </p:nvSpPr>
        <p:spPr>
          <a:xfrm>
            <a:off x="896040" y="49287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NEEDS_REVISION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1"/>
          <p:cNvSpPr/>
          <p:nvPr/>
        </p:nvSpPr>
        <p:spPr>
          <a:xfrm>
            <a:off x="2834640" y="4864680"/>
            <a:ext cx="28159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Оператор возвращает заявку с замечаниями; после исправления возможна повторная отправка.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2"/>
          <p:cNvSpPr/>
          <p:nvPr/>
        </p:nvSpPr>
        <p:spPr>
          <a:xfrm>
            <a:off x="6144840" y="4370760"/>
            <a:ext cx="5440320" cy="1115280"/>
          </a:xfrm>
          <a:prstGeom prst="roundRect">
            <a:avLst>
              <a:gd name="adj" fmla="val 13115"/>
            </a:avLst>
          </a:prstGeom>
          <a:solidFill>
            <a:srgbClr val="102638"/>
          </a:solidFill>
          <a:ln w="10160">
            <a:solidFill>
              <a:srgbClr val="2451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3"/>
          <p:cNvSpPr/>
          <p:nvPr/>
        </p:nvSpPr>
        <p:spPr>
          <a:xfrm>
            <a:off x="6382440" y="4553640"/>
            <a:ext cx="1663920" cy="273960"/>
          </a:xfrm>
          <a:prstGeom prst="roundRect">
            <a:avLst>
              <a:gd name="adj" fmla="val 26667"/>
            </a:avLst>
          </a:prstGeom>
          <a:solidFill>
            <a:srgbClr val="43D6C2"/>
          </a:solidFill>
          <a:ln w="10160">
            <a:solidFill>
              <a:srgbClr val="43D6C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4"/>
          <p:cNvSpPr/>
          <p:nvPr/>
        </p:nvSpPr>
        <p:spPr>
          <a:xfrm>
            <a:off x="6455520" y="4563000"/>
            <a:ext cx="1517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60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СБОЙ ИНТЕГРАЦИИ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5"/>
          <p:cNvSpPr/>
          <p:nvPr/>
        </p:nvSpPr>
        <p:spPr>
          <a:xfrm>
            <a:off x="6382440" y="4928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Не равно отказу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6"/>
          <p:cNvSpPr/>
          <p:nvPr/>
        </p:nvSpPr>
        <p:spPr>
          <a:xfrm>
            <a:off x="8229600" y="4864680"/>
            <a:ext cx="2971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Ошибка фиксируется; проверка повторяется или переводится на дополнительную обработку по согласованной политике.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7"/>
          <p:cNvSpPr/>
          <p:nvPr/>
        </p:nvSpPr>
        <p:spPr>
          <a:xfrm>
            <a:off x="749880" y="587952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Аудит: хранить предыдущий/новый статус, время, автора и основание действия.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sldNum" idx="8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F7A846-47F8-4591-858A-2ABB2F2D69C6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04 / БИЗНЕС-ЛОГИКА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Маршрут строится по явным правилам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Числа и критерии на этом слайде — допущения учебного сценария; для внедрения они должны быть утверждены заказчиком.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658440" y="1828800"/>
            <a:ext cx="4297320" cy="3565800"/>
          </a:xfrm>
          <a:prstGeom prst="roundRect">
            <a:avLst>
              <a:gd name="adj" fmla="val 4103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896040" y="2048400"/>
            <a:ext cx="3794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FF7B86"/>
                </a:solidFill>
                <a:effectLst/>
                <a:uFillTx/>
                <a:latin typeface="Aptos"/>
                <a:ea typeface="Aptos"/>
              </a:rPr>
              <a:t>СТОП-ФАКТОРЫ: ПРИОРИТЕТ ВЫШЕ СКОРИНГА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914400" y="2514600"/>
            <a:ext cx="200880" cy="200880"/>
          </a:xfrm>
          <a:prstGeom prst="ellipse">
            <a:avLst/>
          </a:prstGeom>
          <a:solidFill>
            <a:srgbClr val="482A39"/>
          </a:solidFill>
          <a:ln w="12700">
            <a:solidFill>
              <a:srgbClr val="482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914400" y="25099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B86"/>
                </a:solidFill>
                <a:effectLst/>
                <a:uFillTx/>
                <a:latin typeface="Aptos"/>
                <a:ea typeface="Aptos"/>
              </a:rPr>
              <a:t>×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1243440" y="250560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Налоговая задолженность &gt; 50 000 ₽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914400" y="3008520"/>
            <a:ext cx="200880" cy="200880"/>
          </a:xfrm>
          <a:prstGeom prst="ellipse">
            <a:avLst/>
          </a:prstGeom>
          <a:solidFill>
            <a:srgbClr val="482A39"/>
          </a:solidFill>
          <a:ln w="12700">
            <a:solidFill>
              <a:srgbClr val="482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914400" y="30038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B86"/>
                </a:solidFill>
                <a:effectLst/>
                <a:uFillTx/>
                <a:latin typeface="Aptos"/>
                <a:ea typeface="Aptos"/>
              </a:rPr>
              <a:t>×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1243440" y="299916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Ликвидация или исключающий статус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914400" y="3502080"/>
            <a:ext cx="200880" cy="200880"/>
          </a:xfrm>
          <a:prstGeom prst="ellipse">
            <a:avLst/>
          </a:prstGeom>
          <a:solidFill>
            <a:srgbClr val="482A39"/>
          </a:solidFill>
          <a:ln w="12700">
            <a:solidFill>
              <a:srgbClr val="482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914400" y="34977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B86"/>
                </a:solidFill>
                <a:effectLst/>
                <a:uFillTx/>
                <a:latin typeface="Aptos"/>
                <a:ea typeface="Aptos"/>
              </a:rPr>
              <a:t>×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1243440" y="34930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Включение в РНП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4"/>
          <p:cNvSpPr/>
          <p:nvPr/>
        </p:nvSpPr>
        <p:spPr>
          <a:xfrm>
            <a:off x="914400" y="3996000"/>
            <a:ext cx="200880" cy="200880"/>
          </a:xfrm>
          <a:prstGeom prst="ellipse">
            <a:avLst/>
          </a:prstGeom>
          <a:solidFill>
            <a:srgbClr val="482A39"/>
          </a:solidFill>
          <a:ln w="12700">
            <a:solidFill>
              <a:srgbClr val="482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914400" y="39913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B86"/>
                </a:solidFill>
                <a:effectLst/>
                <a:uFillTx/>
                <a:latin typeface="Aptos"/>
                <a:ea typeface="Aptos"/>
              </a:rPr>
              <a:t>×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6"/>
          <p:cNvSpPr/>
          <p:nvPr/>
        </p:nvSpPr>
        <p:spPr>
          <a:xfrm>
            <a:off x="1243440" y="398664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Процедура банкротства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7"/>
          <p:cNvSpPr/>
          <p:nvPr/>
        </p:nvSpPr>
        <p:spPr>
          <a:xfrm>
            <a:off x="914400" y="4489560"/>
            <a:ext cx="200880" cy="200880"/>
          </a:xfrm>
          <a:prstGeom prst="ellipse">
            <a:avLst/>
          </a:prstGeom>
          <a:solidFill>
            <a:srgbClr val="482A39"/>
          </a:solidFill>
          <a:ln w="12700">
            <a:solidFill>
              <a:srgbClr val="482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8"/>
          <p:cNvSpPr/>
          <p:nvPr/>
        </p:nvSpPr>
        <p:spPr>
          <a:xfrm>
            <a:off x="914400" y="44852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7B86"/>
                </a:solidFill>
                <a:effectLst/>
                <a:uFillTx/>
                <a:latin typeface="Aptos"/>
                <a:ea typeface="Aptos"/>
              </a:rPr>
              <a:t>×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9"/>
          <p:cNvSpPr/>
          <p:nvPr/>
        </p:nvSpPr>
        <p:spPr>
          <a:xfrm>
            <a:off x="1243440" y="448056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Регистрация менее 12 месяцев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0"/>
          <p:cNvSpPr/>
          <p:nvPr/>
        </p:nvSpPr>
        <p:spPr>
          <a:xfrm>
            <a:off x="5212080" y="1828800"/>
            <a:ext cx="6382080" cy="3565800"/>
          </a:xfrm>
          <a:prstGeom prst="roundRect">
            <a:avLst>
              <a:gd name="adj" fmla="val 4103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5468040" y="2048400"/>
            <a:ext cx="5714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МАРШРУТИЗАЦИЯ ПО СКОРИНГОВОМУ БАЛЛУ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2"/>
          <p:cNvSpPr/>
          <p:nvPr/>
        </p:nvSpPr>
        <p:spPr>
          <a:xfrm>
            <a:off x="5468040" y="2578680"/>
            <a:ext cx="1737000" cy="1115280"/>
          </a:xfrm>
          <a:prstGeom prst="roundRect">
            <a:avLst>
              <a:gd name="adj" fmla="val 13115"/>
            </a:avLst>
          </a:prstGeom>
          <a:solidFill>
            <a:srgbClr val="1A2A3D"/>
          </a:solidFill>
          <a:ln w="10160">
            <a:solidFill>
              <a:srgbClr val="FF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5559480" y="279792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7B86"/>
                </a:solidFill>
                <a:effectLst/>
                <a:uFillTx/>
                <a:latin typeface="Aptos"/>
                <a:ea typeface="Aptos"/>
              </a:rPr>
              <a:t>0–59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4"/>
          <p:cNvSpPr/>
          <p:nvPr/>
        </p:nvSpPr>
        <p:spPr>
          <a:xfrm>
            <a:off x="5541120" y="327348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Отклонение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5"/>
          <p:cNvSpPr/>
          <p:nvPr/>
        </p:nvSpPr>
        <p:spPr>
          <a:xfrm>
            <a:off x="7287840" y="2578680"/>
            <a:ext cx="1965600" cy="1115280"/>
          </a:xfrm>
          <a:prstGeom prst="roundRect">
            <a:avLst>
              <a:gd name="adj" fmla="val 13115"/>
            </a:avLst>
          </a:prstGeom>
          <a:solidFill>
            <a:srgbClr val="1A2A3D"/>
          </a:solidFill>
          <a:ln w="1016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6"/>
          <p:cNvSpPr/>
          <p:nvPr/>
        </p:nvSpPr>
        <p:spPr>
          <a:xfrm>
            <a:off x="7379280" y="279792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60–79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7360920" y="3273480"/>
            <a:ext cx="1819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Ручная проверка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8"/>
          <p:cNvSpPr/>
          <p:nvPr/>
        </p:nvSpPr>
        <p:spPr>
          <a:xfrm>
            <a:off x="9335880" y="2578680"/>
            <a:ext cx="1992960" cy="1115280"/>
          </a:xfrm>
          <a:prstGeom prst="roundRect">
            <a:avLst>
              <a:gd name="adj" fmla="val 13115"/>
            </a:avLst>
          </a:prstGeom>
          <a:solidFill>
            <a:srgbClr val="1A2A3D"/>
          </a:solidFill>
          <a:ln w="10160">
            <a:solidFill>
              <a:srgbClr val="78D7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9427320" y="2797920"/>
            <a:ext cx="1810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78D7A4"/>
                </a:solidFill>
                <a:effectLst/>
                <a:uFillTx/>
                <a:latin typeface="Aptos"/>
                <a:ea typeface="Aptos"/>
              </a:rPr>
              <a:t>80–100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0"/>
          <p:cNvSpPr/>
          <p:nvPr/>
        </p:nvSpPr>
        <p:spPr>
          <a:xfrm>
            <a:off x="9409320" y="3273480"/>
            <a:ext cx="1846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Рекомендация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1"/>
          <p:cNvSpPr/>
          <p:nvPr/>
        </p:nvSpPr>
        <p:spPr>
          <a:xfrm>
            <a:off x="5468040" y="404172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Скоринговый балл: целое число от 0 до 100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2"/>
          <p:cNvSpPr/>
          <p:nvPr/>
        </p:nvSpPr>
        <p:spPr>
          <a:xfrm>
            <a:off x="5468040" y="4526280"/>
            <a:ext cx="5824800" cy="360"/>
          </a:xfrm>
          <a:prstGeom prst="line">
            <a:avLst/>
          </a:prstGeom>
          <a:ln w="1143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5468040" y="47181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40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РЕКОМЕНДАЦИЯ ≠ РЕШЕНИЕ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4"/>
          <p:cNvSpPr/>
          <p:nvPr/>
        </p:nvSpPr>
        <p:spPr>
          <a:xfrm>
            <a:off x="5468040" y="5029200"/>
            <a:ext cx="5650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Окончательное решение по заявкам, поступившим на рассмотрение, принимает уполномоченный оператор. Стоп-факторы и пороги требуют юридического и бизнес-согласования.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sldNum" idx="9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FD3867-7BD4-4BF3-908D-3B396244AD06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05 / API И ИНТЕГРАЦИИ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Контракты описывают точки взаимодействия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Спецификация OpenAPI 3.0 фиксирует входы, выходы и операции; реальные внешние API заменены mock-сценариями.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658440" y="1993320"/>
            <a:ext cx="2029680" cy="1051200"/>
          </a:xfrm>
          <a:prstGeom prst="roundRect">
            <a:avLst>
              <a:gd name="adj" fmla="val 13913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877680" y="2221920"/>
            <a:ext cx="15724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Клиентский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интерфейс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658440" y="3730680"/>
            <a:ext cx="2029680" cy="1051200"/>
          </a:xfrm>
          <a:prstGeom prst="roundRect">
            <a:avLst>
              <a:gd name="adj" fmla="val 13913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877680" y="3959280"/>
            <a:ext cx="15724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Рабочее место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оператора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3246120" y="2286000"/>
            <a:ext cx="2468520" cy="2057040"/>
          </a:xfrm>
          <a:prstGeom prst="roundRect">
            <a:avLst>
              <a:gd name="adj" fmla="val 7111"/>
            </a:avLst>
          </a:prstGeom>
          <a:solidFill>
            <a:srgbClr val="122B3C"/>
          </a:solidFill>
          <a:ln w="10160">
            <a:solidFill>
              <a:srgbClr val="2A7A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3584520" y="2532960"/>
            <a:ext cx="914040" cy="273960"/>
          </a:xfrm>
          <a:prstGeom prst="roundRect">
            <a:avLst>
              <a:gd name="adj" fmla="val 26667"/>
            </a:avLst>
          </a:prstGeom>
          <a:solidFill>
            <a:srgbClr val="43D6C2"/>
          </a:solidFill>
          <a:ln w="10160">
            <a:solidFill>
              <a:srgbClr val="43D6C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3657600" y="254196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60">
                <a:solidFill>
                  <a:srgbClr val="0B1220"/>
                </a:solidFill>
                <a:effectLst/>
                <a:uFillTx/>
                <a:latin typeface="Aptos"/>
                <a:ea typeface="Aptos"/>
              </a:rPr>
              <a:t>REST API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3566160" y="294444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OpenAPI 3.0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3511440" y="340164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Заявки • документы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проверки • скоринг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решение • история статусов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2"/>
          <p:cNvSpPr/>
          <p:nvPr/>
        </p:nvSpPr>
        <p:spPr>
          <a:xfrm>
            <a:off x="2688120" y="2523600"/>
            <a:ext cx="558000" cy="329040"/>
          </a:xfrm>
          <a:prstGeom prst="line">
            <a:avLst/>
          </a:prstGeom>
          <a:ln w="22860">
            <a:solidFill>
              <a:srgbClr val="6CA8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 flipV="1">
            <a:off x="2688120" y="3767040"/>
            <a:ext cx="558000" cy="457200"/>
          </a:xfrm>
          <a:prstGeom prst="line">
            <a:avLst/>
          </a:prstGeom>
          <a:ln w="22860">
            <a:solidFill>
              <a:srgbClr val="6CA8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6327720" y="1993320"/>
            <a:ext cx="2212560" cy="1051200"/>
          </a:xfrm>
          <a:prstGeom prst="roundRect">
            <a:avLst>
              <a:gd name="adj" fmla="val 13913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6537960" y="2212920"/>
            <a:ext cx="1782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Оркестрация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бизнес-правил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6327720" y="3730680"/>
            <a:ext cx="2212560" cy="1051200"/>
          </a:xfrm>
          <a:prstGeom prst="roundRect">
            <a:avLst>
              <a:gd name="adj" fmla="val 13913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6537960" y="3959280"/>
            <a:ext cx="1782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PostgreSQL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+ аудит / история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 flipV="1">
            <a:off x="5715000" y="2523600"/>
            <a:ext cx="612360" cy="356760"/>
          </a:xfrm>
          <a:prstGeom prst="line">
            <a:avLst/>
          </a:prstGeom>
          <a:ln w="22860">
            <a:solidFill>
              <a:srgbClr val="43D6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5715000" y="3749040"/>
            <a:ext cx="612360" cy="475200"/>
          </a:xfrm>
          <a:prstGeom prst="line">
            <a:avLst/>
          </a:prstGeom>
          <a:ln w="22860">
            <a:solidFill>
              <a:srgbClr val="43D6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0"/>
          <p:cNvSpPr/>
          <p:nvPr/>
        </p:nvSpPr>
        <p:spPr>
          <a:xfrm>
            <a:off x="9098280" y="1901880"/>
            <a:ext cx="2450160" cy="3017160"/>
          </a:xfrm>
          <a:prstGeom prst="roundRect">
            <a:avLst>
              <a:gd name="adj" fmla="val 5970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9326880" y="212148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ВНЕШНИЕ И СМЕЖНЫЕ СИСТЕМЫ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9345240" y="2606040"/>
            <a:ext cx="118440" cy="11844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9582840" y="2578680"/>
            <a:ext cx="1718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ЕГРЮЛ / ФНС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4"/>
          <p:cNvSpPr/>
          <p:nvPr/>
        </p:nvSpPr>
        <p:spPr>
          <a:xfrm>
            <a:off x="9345240" y="2999160"/>
            <a:ext cx="118440" cy="11844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9582840" y="2971800"/>
            <a:ext cx="1718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Федресурс / РНП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6"/>
          <p:cNvSpPr/>
          <p:nvPr/>
        </p:nvSpPr>
        <p:spPr>
          <a:xfrm>
            <a:off x="9345240" y="3392280"/>
            <a:ext cx="118440" cy="11844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9582840" y="3364920"/>
            <a:ext cx="1718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Сервис скоринга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8"/>
          <p:cNvSpPr/>
          <p:nvPr/>
        </p:nvSpPr>
        <p:spPr>
          <a:xfrm>
            <a:off x="9345240" y="3785760"/>
            <a:ext cx="118440" cy="11844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9"/>
          <p:cNvSpPr/>
          <p:nvPr/>
        </p:nvSpPr>
        <p:spPr>
          <a:xfrm>
            <a:off x="9582840" y="3758040"/>
            <a:ext cx="1718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Модуль 2: мониторинг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0"/>
          <p:cNvSpPr/>
          <p:nvPr/>
        </p:nvSpPr>
        <p:spPr>
          <a:xfrm>
            <a:off x="9345240" y="4178880"/>
            <a:ext cx="118440" cy="11844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1"/>
          <p:cNvSpPr/>
          <p:nvPr/>
        </p:nvSpPr>
        <p:spPr>
          <a:xfrm>
            <a:off x="9582840" y="4151520"/>
            <a:ext cx="1718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Модуль 3: отчётность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2"/>
          <p:cNvSpPr/>
          <p:nvPr/>
        </p:nvSpPr>
        <p:spPr>
          <a:xfrm>
            <a:off x="8540280" y="2541960"/>
            <a:ext cx="558000" cy="360"/>
          </a:xfrm>
          <a:prstGeom prst="line">
            <a:avLst/>
          </a:prstGeom>
          <a:ln w="20320">
            <a:solidFill>
              <a:srgbClr val="FFC56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3"/>
          <p:cNvSpPr/>
          <p:nvPr/>
        </p:nvSpPr>
        <p:spPr>
          <a:xfrm>
            <a:off x="8540280" y="4233600"/>
            <a:ext cx="558000" cy="360"/>
          </a:xfrm>
          <a:prstGeom prst="line">
            <a:avLst/>
          </a:prstGeom>
          <a:ln w="20320">
            <a:solidFill>
              <a:srgbClr val="6CA8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4"/>
          <p:cNvSpPr/>
          <p:nvPr/>
        </p:nvSpPr>
        <p:spPr>
          <a:xfrm>
            <a:off x="658440" y="5285160"/>
            <a:ext cx="10881000" cy="594000"/>
          </a:xfrm>
          <a:prstGeom prst="roundRect">
            <a:avLst>
              <a:gd name="adj" fmla="val 24615"/>
            </a:avLst>
          </a:prstGeom>
          <a:solidFill>
            <a:srgbClr val="102638"/>
          </a:solidFill>
          <a:ln w="10160">
            <a:solidFill>
              <a:srgbClr val="2451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5"/>
          <p:cNvSpPr/>
          <p:nvPr/>
        </p:nvSpPr>
        <p:spPr>
          <a:xfrm>
            <a:off x="877680" y="546804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Примеры операций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6"/>
          <p:cNvSpPr/>
          <p:nvPr/>
        </p:nvSpPr>
        <p:spPr>
          <a:xfrm>
            <a:off x="2395800" y="5422320"/>
            <a:ext cx="8796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POST /applications  •  POST /applications/{id}/submit  •  GET /applications/{id}/checks  •  POST /applications/{id}/decision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sldNum" idx="10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3CEB8B-4BFC-4A7D-BF2B-E1176E263727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06 / МОДЕЛЬ ДАННЫХ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Данные заявки не сводятся к одной таблице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ER-модель и DDL фиксируют бизнес-объекты, историю, аудит и безопасное повторение операций.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658440" y="1920240"/>
            <a:ext cx="3382920" cy="1828440"/>
          </a:xfrm>
          <a:prstGeom prst="roundRect">
            <a:avLst>
              <a:gd name="adj" fmla="val 8000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868680" y="21214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6CA8FF"/>
                </a:solidFill>
                <a:effectLst/>
                <a:uFillTx/>
                <a:latin typeface="Aptos"/>
                <a:ea typeface="Aptos"/>
              </a:rPr>
              <a:t>БИЗНЕС-ОБЪЕКТЫ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887040" y="2541960"/>
            <a:ext cx="72720" cy="727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1069920" y="25056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companies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887040" y="2788920"/>
            <a:ext cx="72720" cy="727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1069920" y="27522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applications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887040" y="3035880"/>
            <a:ext cx="72720" cy="727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1069920" y="29991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application_contacts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887040" y="3282840"/>
            <a:ext cx="72720" cy="727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1069920" y="324612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application_documents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4407480" y="1920240"/>
            <a:ext cx="3382920" cy="1828440"/>
          </a:xfrm>
          <a:prstGeom prst="roundRect">
            <a:avLst>
              <a:gd name="adj" fmla="val 8000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4617720" y="21214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ОЦЕНКА И РЕШЕНИЕ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4636080" y="254196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4818960" y="25056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company_financial_snapshots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4636080" y="278892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4818960" y="27522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application_checks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4636080" y="303588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4818960" y="29991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scoring_results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1"/>
          <p:cNvSpPr/>
          <p:nvPr/>
        </p:nvSpPr>
        <p:spPr>
          <a:xfrm>
            <a:off x="4636080" y="328284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2"/>
          <p:cNvSpPr/>
          <p:nvPr/>
        </p:nvSpPr>
        <p:spPr>
          <a:xfrm>
            <a:off x="4818960" y="324612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decisions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3"/>
          <p:cNvSpPr/>
          <p:nvPr/>
        </p:nvSpPr>
        <p:spPr>
          <a:xfrm>
            <a:off x="4636080" y="352944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4"/>
          <p:cNvSpPr/>
          <p:nvPr/>
        </p:nvSpPr>
        <p:spPr>
          <a:xfrm>
            <a:off x="4818960" y="349308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application_status_history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5"/>
          <p:cNvSpPr/>
          <p:nvPr/>
        </p:nvSpPr>
        <p:spPr>
          <a:xfrm>
            <a:off x="8156520" y="1920240"/>
            <a:ext cx="3382920" cy="1828440"/>
          </a:xfrm>
          <a:prstGeom prst="roundRect">
            <a:avLst>
              <a:gd name="adj" fmla="val 8000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6"/>
          <p:cNvSpPr/>
          <p:nvPr/>
        </p:nvSpPr>
        <p:spPr>
          <a:xfrm>
            <a:off x="8366760" y="21214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НАДЁЖНОСТЬ И АУДИТ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7"/>
          <p:cNvSpPr/>
          <p:nvPr/>
        </p:nvSpPr>
        <p:spPr>
          <a:xfrm>
            <a:off x="8385120" y="2541960"/>
            <a:ext cx="72720" cy="727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8"/>
          <p:cNvSpPr/>
          <p:nvPr/>
        </p:nvSpPr>
        <p:spPr>
          <a:xfrm>
            <a:off x="8568000" y="25056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integration_deliveries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9"/>
          <p:cNvSpPr/>
          <p:nvPr/>
        </p:nvSpPr>
        <p:spPr>
          <a:xfrm>
            <a:off x="8385120" y="2788920"/>
            <a:ext cx="72720" cy="727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0"/>
          <p:cNvSpPr/>
          <p:nvPr/>
        </p:nvSpPr>
        <p:spPr>
          <a:xfrm>
            <a:off x="8568000" y="27522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idempotency_records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1"/>
          <p:cNvSpPr/>
          <p:nvPr/>
        </p:nvSpPr>
        <p:spPr>
          <a:xfrm>
            <a:off x="8385120" y="3035880"/>
            <a:ext cx="72720" cy="727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2"/>
          <p:cNvSpPr/>
          <p:nvPr/>
        </p:nvSpPr>
        <p:spPr>
          <a:xfrm>
            <a:off x="8568000" y="29991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audit_events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3"/>
          <p:cNvSpPr/>
          <p:nvPr/>
        </p:nvSpPr>
        <p:spPr>
          <a:xfrm>
            <a:off x="8385120" y="3282840"/>
            <a:ext cx="72720" cy="727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4"/>
          <p:cNvSpPr/>
          <p:nvPr/>
        </p:nvSpPr>
        <p:spPr>
          <a:xfrm>
            <a:off x="8568000" y="324612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notification_outbox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5"/>
          <p:cNvSpPr/>
          <p:nvPr/>
        </p:nvSpPr>
        <p:spPr>
          <a:xfrm>
            <a:off x="4041360" y="2834640"/>
            <a:ext cx="365760" cy="360"/>
          </a:xfrm>
          <a:prstGeom prst="line">
            <a:avLst/>
          </a:prstGeom>
          <a:ln w="19050">
            <a:solidFill>
              <a:srgbClr val="2C40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6"/>
          <p:cNvSpPr/>
          <p:nvPr/>
        </p:nvSpPr>
        <p:spPr>
          <a:xfrm>
            <a:off x="7790400" y="2834640"/>
            <a:ext cx="365760" cy="360"/>
          </a:xfrm>
          <a:prstGeom prst="line">
            <a:avLst/>
          </a:prstGeom>
          <a:ln w="19050">
            <a:solidFill>
              <a:srgbClr val="2C405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7"/>
          <p:cNvSpPr/>
          <p:nvPr/>
        </p:nvSpPr>
        <p:spPr>
          <a:xfrm>
            <a:off x="658440" y="4233600"/>
            <a:ext cx="6811920" cy="1078560"/>
          </a:xfrm>
          <a:prstGeom prst="roundRect">
            <a:avLst>
              <a:gd name="adj" fmla="val 13559"/>
            </a:avLst>
          </a:prstGeom>
          <a:solidFill>
            <a:srgbClr val="122B3C"/>
          </a:solidFill>
          <a:ln w="10160">
            <a:solidFill>
              <a:srgbClr val="2A7A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8"/>
          <p:cNvSpPr/>
          <p:nvPr/>
        </p:nvSpPr>
        <p:spPr>
          <a:xfrm>
            <a:off x="896040" y="446220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PostgreSQL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9"/>
          <p:cNvSpPr/>
          <p:nvPr/>
        </p:nvSpPr>
        <p:spPr>
          <a:xfrm>
            <a:off x="2514600" y="4443840"/>
            <a:ext cx="4644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PK / FK  •  CHECK  •  индексы  •  JSONB для результатов внешних проверок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0"/>
          <p:cNvSpPr/>
          <p:nvPr/>
        </p:nvSpPr>
        <p:spPr>
          <a:xfrm>
            <a:off x="7772400" y="4233600"/>
            <a:ext cx="3767040" cy="1078560"/>
          </a:xfrm>
          <a:prstGeom prst="roundRect">
            <a:avLst>
              <a:gd name="adj" fmla="val 13559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1"/>
          <p:cNvSpPr/>
          <p:nvPr/>
        </p:nvSpPr>
        <p:spPr>
          <a:xfrm>
            <a:off x="8019360" y="4434840"/>
            <a:ext cx="21942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Почему это важно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2"/>
          <p:cNvSpPr/>
          <p:nvPr/>
        </p:nvSpPr>
        <p:spPr>
          <a:xfrm>
            <a:off x="8019360" y="47548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Разделение текущего состояния, истории и технической доставки упрощает аудит и повторную обработку.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3"/>
          <p:cNvSpPr/>
          <p:nvPr/>
        </p:nvSpPr>
        <p:spPr>
          <a:xfrm>
            <a:off x="749880" y="57423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В модели определено 13 таблиц. Это проектируемая схема; её корректность проверяется миграциями и тестами в целевой среде.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sldNum" idx="11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4E2D58-35AD-4C0C-BBE7-0C2E8CCDE464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07 / КАЧЕСТВО И ОГРАНИЧЕНИЯ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Нефункциональные требования — проверяемые, а не декоративные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В SRS заданы критерии приёмки для производительности, отказоустойчивости, безопасности и аудита.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658440" y="1874520"/>
            <a:ext cx="2578320" cy="1325520"/>
          </a:xfrm>
          <a:prstGeom prst="roundRect">
            <a:avLst>
              <a:gd name="adj" fmla="val 11034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822960" y="2148840"/>
            <a:ext cx="224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p95 &lt; 1,5 с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822960" y="2697480"/>
            <a:ext cx="2248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Ответ синхронного API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6"/>
          <p:cNvSpPr/>
          <p:nvPr/>
        </p:nvSpPr>
        <p:spPr>
          <a:xfrm>
            <a:off x="3401640" y="1874520"/>
            <a:ext cx="2578320" cy="1325520"/>
          </a:xfrm>
          <a:prstGeom prst="roundRect">
            <a:avLst>
              <a:gd name="adj" fmla="val 11034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3566160" y="2148840"/>
            <a:ext cx="224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CA8FF"/>
                </a:solidFill>
                <a:effectLst/>
                <a:uFillTx/>
                <a:latin typeface="Aptos"/>
                <a:ea typeface="Aptos"/>
              </a:rPr>
              <a:t>99,9%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3566160" y="2697480"/>
            <a:ext cx="2248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Целевая доступность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6144840" y="1874520"/>
            <a:ext cx="2578320" cy="1325520"/>
          </a:xfrm>
          <a:prstGeom prst="roundRect">
            <a:avLst>
              <a:gd name="adj" fmla="val 11034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6309360" y="2148840"/>
            <a:ext cx="224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≤ 2 часа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1"/>
          <p:cNvSpPr/>
          <p:nvPr/>
        </p:nvSpPr>
        <p:spPr>
          <a:xfrm>
            <a:off x="6309360" y="2697480"/>
            <a:ext cx="2248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Цель обработки заявки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2"/>
          <p:cNvSpPr/>
          <p:nvPr/>
        </p:nvSpPr>
        <p:spPr>
          <a:xfrm>
            <a:off x="8888040" y="1874520"/>
            <a:ext cx="2578320" cy="1325520"/>
          </a:xfrm>
          <a:prstGeom prst="roundRect">
            <a:avLst>
              <a:gd name="adj" fmla="val 11034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9052560" y="2148840"/>
            <a:ext cx="224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78D7A4"/>
                </a:solidFill>
                <a:effectLst/>
                <a:uFillTx/>
                <a:latin typeface="Aptos"/>
                <a:ea typeface="Aptos"/>
              </a:rPr>
              <a:t>152-ФЗ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9052560" y="2697480"/>
            <a:ext cx="2248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Если применимо к данным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>
            <a:off x="658440" y="3794760"/>
            <a:ext cx="3428640" cy="1371240"/>
          </a:xfrm>
          <a:prstGeom prst="roundRect">
            <a:avLst>
              <a:gd name="adj" fmla="val 10667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6"/>
          <p:cNvSpPr/>
          <p:nvPr/>
        </p:nvSpPr>
        <p:spPr>
          <a:xfrm>
            <a:off x="841320" y="4041720"/>
            <a:ext cx="136800" cy="13680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1097280" y="397764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Ролевой доступ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859680" y="4407480"/>
            <a:ext cx="3026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Аутентификация, права по ролям, запрет неразрешённых операций.</a:t>
            </a:r>
            <a:endParaRPr lang="en-US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9"/>
          <p:cNvSpPr/>
          <p:nvPr/>
        </p:nvSpPr>
        <p:spPr>
          <a:xfrm>
            <a:off x="4389120" y="3794760"/>
            <a:ext cx="3428640" cy="1371240"/>
          </a:xfrm>
          <a:prstGeom prst="roundRect">
            <a:avLst>
              <a:gd name="adj" fmla="val 10667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>
            <a:off x="4572000" y="4041720"/>
            <a:ext cx="136800" cy="13680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4827960" y="397764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Повторная обработка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2"/>
          <p:cNvSpPr/>
          <p:nvPr/>
        </p:nvSpPr>
        <p:spPr>
          <a:xfrm>
            <a:off x="4590360" y="4407480"/>
            <a:ext cx="3026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Ошибки источников отличимы от отрицательных результатов; нет дублирования операций.</a:t>
            </a:r>
            <a:endParaRPr lang="en-US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3"/>
          <p:cNvSpPr/>
          <p:nvPr/>
        </p:nvSpPr>
        <p:spPr>
          <a:xfrm>
            <a:off x="8119800" y="3794760"/>
            <a:ext cx="3346200" cy="1371240"/>
          </a:xfrm>
          <a:prstGeom prst="roundRect">
            <a:avLst>
              <a:gd name="adj" fmla="val 10667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>
            <a:off x="8302680" y="4041720"/>
            <a:ext cx="136800" cy="13680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5"/>
          <p:cNvSpPr/>
          <p:nvPr/>
        </p:nvSpPr>
        <p:spPr>
          <a:xfrm>
            <a:off x="8558640" y="3977640"/>
            <a:ext cx="2706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Аудит и наблюдаемость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6"/>
          <p:cNvSpPr/>
          <p:nvPr/>
        </p:nvSpPr>
        <p:spPr>
          <a:xfrm>
            <a:off x="8321040" y="4407480"/>
            <a:ext cx="2944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История статусов, автор/время решения, диагностика ошибок без секретов в логах.</a:t>
            </a:r>
            <a:endParaRPr lang="en-US" sz="10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749880" y="5715000"/>
            <a:ext cx="10743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i="1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Показатели производительности и доступности — цели требований, пока не подтверждённые нагрузочным тестированием.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sldNum" idx="12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FD49AD-93C7-407D-BBD4-303792C28D43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621720" y="34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08 / РЕЗУЛЬТАТ СИСТЕМНОГО АНАЛИЗА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62172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7FB"/>
                </a:solidFill>
                <a:effectLst/>
                <a:uFillTx/>
                <a:latin typeface="Aptos Display"/>
                <a:ea typeface="Aptos Display"/>
              </a:rPr>
              <a:t>Главный результат — согласованный комплект артефактов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640080" y="1225440"/>
            <a:ext cx="10881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Документация связывает бизнес-цель с контрактами, моделью хранения и проверяемыми сценариями.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658440" y="1901880"/>
            <a:ext cx="3382920" cy="2148480"/>
          </a:xfrm>
          <a:prstGeom prst="roundRect">
            <a:avLst>
              <a:gd name="adj" fmla="val 6809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868680" y="2121480"/>
            <a:ext cx="294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ТРЕБОВАНИЯ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5"/>
          <p:cNvSpPr/>
          <p:nvPr/>
        </p:nvSpPr>
        <p:spPr>
          <a:xfrm>
            <a:off x="877680" y="267912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1060560" y="25786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business-requirements.md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877680" y="302652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1060560" y="29260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business-rules.md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9"/>
          <p:cNvSpPr/>
          <p:nvPr/>
        </p:nvSpPr>
        <p:spPr>
          <a:xfrm>
            <a:off x="877680" y="337428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1060560" y="32734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system-requirements.md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877680" y="3721680"/>
            <a:ext cx="72720" cy="72720"/>
          </a:xfrm>
          <a:prstGeom prst="ellipse">
            <a:avLst/>
          </a:prstGeom>
          <a:solidFill>
            <a:srgbClr val="43D6C2"/>
          </a:solidFill>
          <a:ln w="12700">
            <a:solidFill>
              <a:srgbClr val="43D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1060560" y="36208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use-cases.md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3"/>
          <p:cNvSpPr/>
          <p:nvPr/>
        </p:nvSpPr>
        <p:spPr>
          <a:xfrm>
            <a:off x="4407480" y="1901880"/>
            <a:ext cx="3382920" cy="2148480"/>
          </a:xfrm>
          <a:prstGeom prst="roundRect">
            <a:avLst>
              <a:gd name="adj" fmla="val 6809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4617720" y="2121480"/>
            <a:ext cx="294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6CA8FF"/>
                </a:solidFill>
                <a:effectLst/>
                <a:uFillTx/>
                <a:latin typeface="Aptos"/>
                <a:ea typeface="Aptos"/>
              </a:rPr>
              <a:t>МОДЕЛИ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5"/>
          <p:cNvSpPr/>
          <p:nvPr/>
        </p:nvSpPr>
        <p:spPr>
          <a:xfrm>
            <a:off x="4626720" y="2679120"/>
            <a:ext cx="72720" cy="727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4809600" y="25786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bpmn-process.puml / SVG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4626720" y="3026520"/>
            <a:ext cx="72720" cy="727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4809600" y="29260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sequence-diagram.md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9"/>
          <p:cNvSpPr/>
          <p:nvPr/>
        </p:nvSpPr>
        <p:spPr>
          <a:xfrm>
            <a:off x="4626720" y="3374280"/>
            <a:ext cx="72720" cy="72720"/>
          </a:xfrm>
          <a:prstGeom prst="ellipse">
            <a:avLst/>
          </a:prstGeom>
          <a:solidFill>
            <a:srgbClr val="6CA8FF"/>
          </a:solidFill>
          <a:ln w="12700">
            <a:solidFill>
              <a:srgbClr val="6C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4809600" y="32734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erd.md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1"/>
          <p:cNvSpPr/>
          <p:nvPr/>
        </p:nvSpPr>
        <p:spPr>
          <a:xfrm>
            <a:off x="8156520" y="1901880"/>
            <a:ext cx="3382920" cy="2148480"/>
          </a:xfrm>
          <a:prstGeom prst="roundRect">
            <a:avLst>
              <a:gd name="adj" fmla="val 6809"/>
            </a:avLst>
          </a:prstGeom>
          <a:solidFill>
            <a:srgbClr val="121D30"/>
          </a:solidFill>
          <a:ln w="10160">
            <a:solidFill>
              <a:srgbClr val="2C40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2"/>
          <p:cNvSpPr/>
          <p:nvPr/>
        </p:nvSpPr>
        <p:spPr>
          <a:xfrm>
            <a:off x="8366760" y="2121480"/>
            <a:ext cx="294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9">
                <a:solidFill>
                  <a:srgbClr val="FFC56A"/>
                </a:solidFill>
                <a:effectLst/>
                <a:uFillTx/>
                <a:latin typeface="Aptos"/>
                <a:ea typeface="Aptos"/>
              </a:rPr>
              <a:t>ТЕХНИЧЕСКИЕ КОНТРАКТЫ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3"/>
          <p:cNvSpPr/>
          <p:nvPr/>
        </p:nvSpPr>
        <p:spPr>
          <a:xfrm>
            <a:off x="8375760" y="2679120"/>
            <a:ext cx="72720" cy="727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4"/>
          <p:cNvSpPr/>
          <p:nvPr/>
        </p:nvSpPr>
        <p:spPr>
          <a:xfrm>
            <a:off x="8558640" y="25786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openapi.yaml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5"/>
          <p:cNvSpPr/>
          <p:nvPr/>
        </p:nvSpPr>
        <p:spPr>
          <a:xfrm>
            <a:off x="8375760" y="3026520"/>
            <a:ext cx="72720" cy="727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6"/>
          <p:cNvSpPr/>
          <p:nvPr/>
        </p:nvSpPr>
        <p:spPr>
          <a:xfrm>
            <a:off x="8558640" y="29260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schema.sql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7"/>
          <p:cNvSpPr/>
          <p:nvPr/>
        </p:nvSpPr>
        <p:spPr>
          <a:xfrm>
            <a:off x="8375760" y="3374280"/>
            <a:ext cx="72720" cy="72720"/>
          </a:xfrm>
          <a:prstGeom prst="ellipse">
            <a:avLst/>
          </a:prstGeom>
          <a:solidFill>
            <a:srgbClr val="FFC56A"/>
          </a:solidFill>
          <a:ln w="12700">
            <a:solidFill>
              <a:srgbClr val="FFC5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8558640" y="3273480"/>
            <a:ext cx="271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JSON mock-данные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658440" y="4407480"/>
            <a:ext cx="10881000" cy="1023840"/>
          </a:xfrm>
          <a:prstGeom prst="roundRect">
            <a:avLst>
              <a:gd name="adj" fmla="val 14286"/>
            </a:avLst>
          </a:prstGeom>
          <a:solidFill>
            <a:srgbClr val="122B3C"/>
          </a:solidFill>
          <a:ln w="10160">
            <a:solidFill>
              <a:srgbClr val="2A7A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0"/>
          <p:cNvSpPr/>
          <p:nvPr/>
        </p:nvSpPr>
        <p:spPr>
          <a:xfrm>
            <a:off x="905400" y="4590360"/>
            <a:ext cx="2605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11">
                <a:solidFill>
                  <a:srgbClr val="43D6C2"/>
                </a:solidFill>
                <a:effectLst/>
                <a:uFillTx/>
                <a:latin typeface="Aptos"/>
                <a:ea typeface="Aptos"/>
              </a:rPr>
              <a:t>СКВОЗНАЯ ПРОВЕРЯЕМОСТЬ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1"/>
          <p:cNvSpPr/>
          <p:nvPr/>
        </p:nvSpPr>
        <p:spPr>
          <a:xfrm>
            <a:off x="905400" y="4919400"/>
            <a:ext cx="10012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7FB"/>
                </a:solidFill>
                <a:effectLst/>
                <a:uFillTx/>
                <a:latin typeface="Aptos"/>
                <a:ea typeface="Aptos"/>
              </a:rPr>
              <a:t>Бизнес-правило → требование → сценарий / API → сущность БД → тест-кейс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2"/>
          <p:cNvSpPr/>
          <p:nvPr/>
        </p:nvSpPr>
        <p:spPr>
          <a:xfrm>
            <a:off x="749880" y="5742360"/>
            <a:ext cx="10743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8B6C9"/>
                </a:solidFill>
                <a:effectLst/>
                <a:uFillTx/>
                <a:latin typeface="Aptos"/>
                <a:ea typeface="Aptos"/>
              </a:rPr>
              <a:t>Что осталось за рамками: реальные подключения к реестрам, утверждение юридических порогов, развёртывание, нагрузочные и интеграционные испытания.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Num" idx="13"/>
          </p:nvPr>
        </p:nvSpPr>
        <p:spPr>
          <a:xfrm>
            <a:off x="11375280" y="65653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198359-ABA0-4F21-AA70-80CF2C47141A}" type="slidenum">
              <a:rPr lang="en-US" sz="800" b="0" u="none" strike="noStrike">
                <a:solidFill>
                  <a:srgbClr val="9BAAC0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1588</Words>
  <Application>Microsoft Office PowerPoint</Application>
  <PresentationFormat>Широкоэкранный</PresentationFormat>
  <Paragraphs>217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Учебный проект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Julie Ming</cp:lastModifiedBy>
  <cp:revision>1</cp:revision>
  <dcterms:modified xsi:type="dcterms:W3CDTF">2026-10-12T20:26:41Z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2026-10-12T17:58:33Z</dcterms:created>
  <dc:creator>OpenAI</dc:creator>
  <dc:description/>
  <dc:language>en-US</dc:language>
  <cp:lastModifiedBy>OpenAI</cp:lastModifiedBy>
  <dcterms:modified xsi:type="dcterms:W3CDTF">2026-10-12T17:58:33Z</dcterms:modified>
  <cp:revision>1</cp:revision>
  <dc:subject>Защита учебного проекта системного анализа: ГИС «Господдержка»</dc:subject>
  <dc:title>ГИС «Господдержка» — защита проекта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</Properties>
</file>